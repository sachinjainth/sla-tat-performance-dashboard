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0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2B7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241280" y="0"/>
            <a:ext cx="1950415" cy="6858000"/>
          </a:xfrm>
          <a:prstGeom prst="rect">
            <a:avLst/>
          </a:prstGeom>
          <a:solidFill>
            <a:srgbClr val="1F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6D8EF"/>
                </a:solidFill>
                <a:latin typeface="Aptos"/>
              </a:rPr>
              <a:t>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08760"/>
            <a:ext cx="75895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SLA &amp; TAT
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310128"/>
            <a:ext cx="7132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E4EBF5"/>
                </a:solidFill>
                <a:latin typeface="Aptos"/>
              </a:rPr>
              <a:t>Operational ticket reporting | September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4005072"/>
            <a:ext cx="1051560" cy="59436"/>
          </a:xfrm>
          <a:prstGeom prst="rect">
            <a:avLst/>
          </a:prstGeom>
          <a:solidFill>
            <a:srgbClr val="E68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4297680"/>
            <a:ext cx="7132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Tools: Excel • Power Query •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989320"/>
            <a:ext cx="74980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7E1EF"/>
                </a:solidFill>
                <a:latin typeface="Aptos"/>
              </a:rPr>
              <a:t>Portfolio case study | Data preparation, KPI reporting and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B304F"/>
                </a:solidFill>
                <a:latin typeface="Aptos"/>
              </a:rPr>
              <a:t>Project objective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57180"/>
                </a:solidFill>
                <a:latin typeface="Aptos"/>
              </a:rPr>
              <a:t>A reporting solution designed to monitor ticket turnaround and SLA performance.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822960" cy="50292"/>
          </a:xfrm>
          <a:prstGeom prst="rect">
            <a:avLst/>
          </a:prstGeom>
          <a:solidFill>
            <a:srgbClr val="E68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5718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08760"/>
            <a:ext cx="3840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B304F"/>
                </a:solidFill>
                <a:latin typeface="Aptos"/>
              </a:rPr>
              <a:t>Business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48006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A3441"/>
                </a:solidFill>
                <a:latin typeface="Aptos"/>
              </a:rPr>
              <a:t>Clean ticket data, calculate turnaround time (TAT) and SLA compliance, monitor breaches and open tickets, compare teams, and communicate findings to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508760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B304F"/>
                </a:solidFill>
                <a:latin typeface="Aptos"/>
              </a:rPr>
              <a:t>Reporting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38528"/>
            <a:ext cx="47548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975104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68337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75104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3441"/>
                </a:solidFill>
                <a:latin typeface="Aptos"/>
              </a:rPr>
              <a:t>Raw ticket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596896"/>
            <a:ext cx="47548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633472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6833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63347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3441"/>
                </a:solidFill>
                <a:latin typeface="Aptos"/>
              </a:rPr>
              <a:t>Power Query cleaning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55264"/>
            <a:ext cx="47548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3291840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6833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29184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3441"/>
                </a:solidFill>
                <a:latin typeface="Aptos"/>
              </a:rPr>
              <a:t>SLA &amp; TAT calculations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913632"/>
            <a:ext cx="47548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950208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6833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950208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3441"/>
                </a:solidFill>
                <a:latin typeface="Aptos"/>
              </a:rPr>
              <a:t>Excel reporting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572000"/>
            <a:ext cx="4754880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460857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68337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608576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3441"/>
                </a:solidFill>
                <a:latin typeface="Aptos"/>
              </a:rPr>
              <a:t>Power BI dashboard &amp; insights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794760"/>
            <a:ext cx="48006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977639"/>
            <a:ext cx="4206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304F"/>
                </a:solidFill>
                <a:latin typeface="Aptos"/>
              </a:rPr>
              <a:t>Skills demonstrated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389120"/>
            <a:ext cx="41605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A3441"/>
                </a:solidFill>
                <a:latin typeface="Aptos"/>
              </a:rPr>
              <a:t>Data cleaning • KPI calculations • SLA/TAT analysis • Visualisation • Interactive filtering • Management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B304F"/>
                </a:solidFill>
                <a:latin typeface="Aptos"/>
              </a:rPr>
              <a:t>Headline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57180"/>
                </a:solidFill>
                <a:latin typeface="Aptos"/>
              </a:rPr>
              <a:t>September 2026 | Support Operations | 35 tickets in the reporting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822960" cy="50292"/>
          </a:xfrm>
          <a:prstGeom prst="rect">
            <a:avLst/>
          </a:prstGeom>
          <a:solidFill>
            <a:srgbClr val="E68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571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54480"/>
            <a:ext cx="2514600" cy="1298448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554480"/>
            <a:ext cx="64008" cy="1298448"/>
          </a:xfrm>
          <a:prstGeom prst="rect">
            <a:avLst/>
          </a:prstGeom>
          <a:solidFill>
            <a:srgbClr val="2B7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57180"/>
                </a:solidFill>
                <a:latin typeface="Aptos"/>
              </a:rPr>
              <a:t>TOTAL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B77CD"/>
                </a:solidFill>
                <a:latin typeface="Aptos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54480"/>
            <a:ext cx="2514600" cy="1298448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554480"/>
            <a:ext cx="64008" cy="1298448"/>
          </a:xfrm>
          <a:prstGeom prst="rect">
            <a:avLst/>
          </a:prstGeom>
          <a:solidFill>
            <a:srgbClr val="1F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673352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57180"/>
                </a:solidFill>
                <a:latin typeface="Aptos"/>
              </a:rPr>
              <a:t>AVERAGE 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476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1F8C84"/>
                </a:solidFill>
                <a:latin typeface="Aptos"/>
              </a:rPr>
              <a:t>27.5 hrs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554480"/>
            <a:ext cx="2514600" cy="1298448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554480"/>
            <a:ext cx="64008" cy="1298448"/>
          </a:xfrm>
          <a:prstGeom prst="rect">
            <a:avLst/>
          </a:prstGeom>
          <a:solidFill>
            <a:srgbClr val="3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673352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57180"/>
                </a:solidFill>
                <a:latin typeface="Aptos"/>
              </a:rPr>
              <a:t>SLA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9476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36845B"/>
                </a:solidFill>
                <a:latin typeface="Aptos"/>
              </a:rPr>
              <a:t>82.35%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554480"/>
            <a:ext cx="2514600" cy="1298448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554480"/>
            <a:ext cx="64008" cy="1298448"/>
          </a:xfrm>
          <a:prstGeom prst="rect">
            <a:avLst/>
          </a:prstGeom>
          <a:solidFill>
            <a:srgbClr val="B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1673352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57180"/>
                </a:solidFill>
                <a:latin typeface="Aptos"/>
              </a:rPr>
              <a:t>SLA BREACH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947672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BF4A4A"/>
                </a:solidFill>
                <a:latin typeface="Aptos"/>
              </a:rPr>
              <a:t>17.14%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246120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B304F"/>
                </a:solidFill>
                <a:latin typeface="Aptos"/>
              </a:rPr>
              <a:t>Ticket status distribution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3867912"/>
            <a:ext cx="164592" cy="164592"/>
          </a:xfrm>
          <a:prstGeom prst="ellipse">
            <a:avLst/>
          </a:prstGeom>
          <a:solidFill>
            <a:srgbClr val="2B7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379476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A3441"/>
                </a:solidFill>
                <a:latin typeface="Aptos"/>
              </a:rPr>
              <a:t>Within SLA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79476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180"/>
                </a:solidFill>
                <a:latin typeface="Aptos"/>
              </a:rPr>
              <a:t>28 tickets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79476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2B77CD"/>
                </a:solidFill>
                <a:latin typeface="Aptos"/>
              </a:rPr>
              <a:t>80.0%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4489704"/>
            <a:ext cx="164592" cy="164592"/>
          </a:xfrm>
          <a:prstGeom prst="ellipse">
            <a:avLst/>
          </a:prstGeom>
          <a:solidFill>
            <a:srgbClr val="B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441655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A3441"/>
                </a:solidFill>
                <a:latin typeface="Aptos"/>
              </a:rPr>
              <a:t>SLA breached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416552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180"/>
                </a:solidFill>
                <a:latin typeface="Aptos"/>
              </a:rPr>
              <a:t>6 tickets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41655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BF4A4A"/>
                </a:solidFill>
                <a:latin typeface="Aptos"/>
              </a:rPr>
              <a:t>17.14%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" y="5111496"/>
            <a:ext cx="164592" cy="164592"/>
          </a:xfrm>
          <a:prstGeom prst="ellipse">
            <a:avLst/>
          </a:prstGeom>
          <a:solidFill>
            <a:srgbClr val="1F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5038344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A3441"/>
                </a:solidFill>
                <a:latin typeface="Aptos"/>
              </a:rPr>
              <a:t>Open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038344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180"/>
                </a:solidFill>
                <a:latin typeface="Aptos"/>
              </a:rPr>
              <a:t>1 ticket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038344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1F8C84"/>
                </a:solidFill>
                <a:latin typeface="Aptos"/>
              </a:rPr>
              <a:t>2.86%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3337560"/>
            <a:ext cx="5212080" cy="233172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566160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B304F"/>
                </a:solidFill>
                <a:latin typeface="Aptos"/>
              </a:rPr>
              <a:t>Initial reading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4160520"/>
            <a:ext cx="91440" cy="91440"/>
          </a:xfrm>
          <a:prstGeom prst="ellipse">
            <a:avLst/>
          </a:prstGeom>
          <a:solidFill>
            <a:srgbClr val="E68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041648"/>
            <a:ext cx="4325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A3441"/>
                </a:solidFill>
                <a:latin typeface="Aptos"/>
              </a:rPr>
              <a:t>Six tickets breached SLA; this represents 17.14% of all tickets.</a:t>
            </a:r>
          </a:p>
        </p:txBody>
      </p:sp>
      <p:sp>
        <p:nvSpPr>
          <p:cNvPr id="39" name="Oval 38"/>
          <p:cNvSpPr/>
          <p:nvPr/>
        </p:nvSpPr>
        <p:spPr>
          <a:xfrm>
            <a:off x="6309360" y="4855464"/>
            <a:ext cx="91440" cy="91440"/>
          </a:xfrm>
          <a:prstGeom prst="ellipse">
            <a:avLst/>
          </a:prstGeom>
          <a:solidFill>
            <a:srgbClr val="E68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4736592"/>
            <a:ext cx="4325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A3441"/>
                </a:solidFill>
                <a:latin typeface="Aptos"/>
              </a:rPr>
              <a:t>One ticket remains open and should be monitored to closure.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989320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Aptos"/>
              </a:rPr>
              <a:t>Note: The dashboard reports SLA compliance separately from breach rate; retain the project's existing calculation definitions when explaining the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B304F"/>
                </a:solidFill>
                <a:latin typeface="Aptos"/>
              </a:rPr>
              <a:t>Team comparison: the 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57180"/>
                </a:solidFill>
                <a:latin typeface="Aptos"/>
              </a:rPr>
              <a:t>Technical has materially lower SLA compliance despite similar average turnaround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822960" cy="50292"/>
          </a:xfrm>
          <a:prstGeom prst="rect">
            <a:avLst/>
          </a:prstGeom>
          <a:solidFill>
            <a:srgbClr val="E68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57180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536192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B304F"/>
                </a:solidFill>
                <a:latin typeface="Aptos"/>
              </a:rPr>
              <a:t>SLA compliance by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A3441"/>
                </a:solidFill>
                <a:latin typeface="Aptos"/>
              </a:rPr>
              <a:t>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194560"/>
            <a:ext cx="2926080" cy="256032"/>
          </a:xfrm>
          <a:prstGeom prst="roundRect">
            <a:avLst/>
          </a:prstGeom>
          <a:solidFill>
            <a:srgbClr val="E5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48840" y="2194560"/>
            <a:ext cx="2763389" cy="256032"/>
          </a:xfrm>
          <a:prstGeom prst="roundRect">
            <a:avLst/>
          </a:prstGeom>
          <a:solidFill>
            <a:srgbClr val="2B7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2139696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B77CD"/>
                </a:solidFill>
                <a:latin typeface="Aptos"/>
              </a:rPr>
              <a:t>94.44%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A3441"/>
                </a:solidFill>
                <a:latin typeface="Aptos"/>
              </a:rPr>
              <a:t>Technical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3154680"/>
            <a:ext cx="2926080" cy="256032"/>
          </a:xfrm>
          <a:prstGeom prst="roundRect">
            <a:avLst/>
          </a:prstGeom>
          <a:solidFill>
            <a:srgbClr val="E5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48840" y="3154680"/>
            <a:ext cx="2011680" cy="256032"/>
          </a:xfrm>
          <a:prstGeom prst="roundRect">
            <a:avLst/>
          </a:prstGeom>
          <a:solidFill>
            <a:srgbClr val="E68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3099816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68337"/>
                </a:solidFill>
                <a:latin typeface="Aptos"/>
              </a:rPr>
              <a:t>68.75%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536192"/>
            <a:ext cx="4114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B304F"/>
                </a:solidFill>
                <a:latin typeface="Aptos"/>
              </a:rPr>
              <a:t>Average 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A3441"/>
                </a:solidFill>
                <a:latin typeface="Aptos"/>
              </a:rPr>
              <a:t>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194560"/>
            <a:ext cx="2194560" cy="256032"/>
          </a:xfrm>
          <a:prstGeom prst="roundRect">
            <a:avLst/>
          </a:prstGeom>
          <a:solidFill>
            <a:srgbClr val="E5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79" y="2194560"/>
            <a:ext cx="2048256" cy="256032"/>
          </a:xfrm>
          <a:prstGeom prst="roundRect">
            <a:avLst/>
          </a:prstGeom>
          <a:solidFill>
            <a:srgbClr val="1F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2139696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8C84"/>
                </a:solidFill>
                <a:latin typeface="Aptos"/>
              </a:rPr>
              <a:t>28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108960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A3441"/>
                </a:solidFill>
                <a:latin typeface="Aptos"/>
              </a:rPr>
              <a:t>Technical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154680"/>
            <a:ext cx="2194560" cy="256032"/>
          </a:xfrm>
          <a:prstGeom prst="roundRect">
            <a:avLst/>
          </a:prstGeom>
          <a:solidFill>
            <a:srgbClr val="E5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79" y="3154680"/>
            <a:ext cx="1975103" cy="256032"/>
          </a:xfrm>
          <a:prstGeom prst="roundRect">
            <a:avLst/>
          </a:prstGeom>
          <a:solidFill>
            <a:srgbClr val="1F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3099816"/>
            <a:ext cx="822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8C84"/>
                </a:solidFill>
                <a:latin typeface="Aptos"/>
              </a:rPr>
              <a:t>27 hrs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434840"/>
            <a:ext cx="1042416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59028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B304F"/>
                </a:solidFill>
                <a:latin typeface="Aptos"/>
              </a:rPr>
              <a:t>Management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553712"/>
            <a:ext cx="7635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A3441"/>
                </a:solidFill>
                <a:latin typeface="Aptos"/>
              </a:rPr>
              <a:t>Technical accounts for 5 of the 6 SLA breaches. Since average TAT is similar (27 vs 28 hours), investigate SLA adherence, ticket priority, assignment and escalation handling rather than assuming turnaround time alone explains the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B304F"/>
                </a:solidFill>
                <a:latin typeface="Aptos"/>
              </a:rP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57180"/>
                </a:solidFill>
                <a:latin typeface="Aptos"/>
              </a:rPr>
              <a:t>Interactive operational overview with headline KPIs, team-level comparisons, status distribution and a team filter.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822960" cy="50292"/>
          </a:xfrm>
          <a:prstGeom prst="rect">
            <a:avLst/>
          </a:prstGeom>
          <a:solidFill>
            <a:srgbClr val="E68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57180"/>
                </a:solidFill>
                <a:latin typeface="Aptos"/>
              </a:rPr>
              <a:t>05</a:t>
            </a:r>
          </a:p>
        </p:txBody>
      </p:sp>
      <p:pic>
        <p:nvPicPr>
          <p:cNvPr id="6" name="Picture 5" descr="08.06_PowerB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854" y="1485900"/>
            <a:ext cx="4999985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6144768"/>
            <a:ext cx="10698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Aptos"/>
              </a:rPr>
              <a:t>Built in Power BI; the submitted project files also include the PBIX workbook and dashboard 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B304F"/>
                </a:solidFill>
                <a:latin typeface="Aptos"/>
              </a:rPr>
              <a:t>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57180"/>
                </a:solidFill>
                <a:latin typeface="Aptos"/>
              </a:rPr>
              <a:t>Convert the observed performance gap into a focused review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822960" cy="50292"/>
          </a:xfrm>
          <a:prstGeom prst="rect">
            <a:avLst/>
          </a:prstGeom>
          <a:solidFill>
            <a:srgbClr val="E68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57180"/>
                </a:solidFill>
                <a:latin typeface="Aptos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545336"/>
            <a:ext cx="438912" cy="438912"/>
          </a:xfrm>
          <a:prstGeom prst="ellipse">
            <a:avLst/>
          </a:prstGeom>
          <a:solidFill>
            <a:srgbClr val="2B7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4533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508760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304F"/>
                </a:solidFill>
                <a:latin typeface="Aptos"/>
              </a:rPr>
              <a:t>Review Technical breaches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508760"/>
            <a:ext cx="7178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Audit the five Technical SLA breaches by priority, assignment, escalation and breach reason.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77440"/>
            <a:ext cx="438912" cy="438912"/>
          </a:xfrm>
          <a:prstGeom prst="ellipse">
            <a:avLst/>
          </a:prstGeom>
          <a:solidFill>
            <a:srgbClr val="1F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340864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304F"/>
                </a:solidFill>
                <a:latin typeface="Aptos"/>
              </a:rPr>
              <a:t>Check ticket-level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340864"/>
            <a:ext cx="7178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Compare ticket type, age, priority and handling steps to identify recurring drivers.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09544"/>
            <a:ext cx="438912" cy="438912"/>
          </a:xfrm>
          <a:prstGeom prst="ellipse">
            <a:avLst/>
          </a:prstGeom>
          <a:solidFill>
            <a:srgbClr val="2B7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09544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172968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304F"/>
                </a:solidFill>
                <a:latin typeface="Aptos"/>
              </a:rPr>
              <a:t>Monitor open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172968"/>
            <a:ext cx="7178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Track the one open ticket to closure and verify whether it approaches an SLA limit.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041648"/>
            <a:ext cx="438912" cy="438912"/>
          </a:xfrm>
          <a:prstGeom prst="ellipse">
            <a:avLst/>
          </a:prstGeom>
          <a:solidFill>
            <a:srgbClr val="1F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4164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005072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304F"/>
                </a:solidFill>
                <a:latin typeface="Aptos"/>
              </a:rPr>
              <a:t>Improve the reporting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005072"/>
            <a:ext cx="7178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Review the dashboard with stakeholders and update filters or KPIs based on feedback.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873752"/>
            <a:ext cx="438912" cy="438912"/>
          </a:xfrm>
          <a:prstGeom prst="ellipse">
            <a:avLst/>
          </a:prstGeom>
          <a:solidFill>
            <a:srgbClr val="2B7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7375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7176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304F"/>
                </a:solidFill>
                <a:latin typeface="Aptos"/>
              </a:rPr>
              <a:t>Validate before publishing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837176"/>
            <a:ext cx="7178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Reconcile ticket counts, status categories and SLA calculation rules before each refresh.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97880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6845B"/>
                </a:solidFill>
                <a:latin typeface="Aptos"/>
              </a:rPr>
              <a:t>Conclusion: The dashboard does not just summarize tickets—it highlights where SLA performance needs investigation and gives management a starting point for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B304F"/>
                </a:solidFill>
                <a:latin typeface="Aptos"/>
              </a:rPr>
              <a:t>Supporting evidence: Excel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57180"/>
                </a:solidFill>
                <a:latin typeface="Aptos"/>
              </a:rPr>
              <a:t>The same operational story is also presented in Excel, supporting the role's Excel and Power BI requirements.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822960" cy="50292"/>
          </a:xfrm>
          <a:prstGeom prst="rect">
            <a:avLst/>
          </a:prstGeom>
          <a:solidFill>
            <a:srgbClr val="E68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57180"/>
                </a:solidFill>
                <a:latin typeface="Aptos"/>
              </a:rPr>
              <a:t>07</a:t>
            </a:r>
          </a:p>
        </p:txBody>
      </p:sp>
      <p:pic>
        <p:nvPicPr>
          <p:cNvPr id="6" name="Picture 5" descr="08.07_Exce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609" y="1463039"/>
            <a:ext cx="7706476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6144768"/>
            <a:ext cx="10698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180"/>
                </a:solidFill>
                <a:latin typeface="Aptos"/>
              </a:rPr>
              <a:t>Project evidence: Excel workbook • Power BI PBIX • dashboard exports • project README/workflow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